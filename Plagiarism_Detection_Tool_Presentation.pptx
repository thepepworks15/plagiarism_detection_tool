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Plagiarism Detection Tool</a:t>
            </a:r>
          </a:p>
          <a:p>
            <a:pPr algn="ctr">
              <a:defRPr sz="2000">
                <a:solidFill>
                  <a:srgbClr val="BBDEFB"/>
                </a:solidFill>
              </a:defRPr>
            </a:pPr>
            <a:r>
              <a:t>A Multi-Algorithm Approach with Semantic AI Analysis</a:t>
            </a:r>
          </a:p>
          <a:p>
            <a:pPr>
              <a:defRPr sz="1000"/>
            </a:pPr>
            <a:br/>
          </a:p>
          <a:p>
            <a:pPr algn="ctr">
              <a:defRPr sz="1600">
                <a:solidFill>
                  <a:srgbClr val="FFCC80"/>
                </a:solidFill>
              </a:defRPr>
            </a:pPr>
            <a:r>
              <a:t>Using NLP, Machine Learning &amp; Sentence Transformers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8288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Table of 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• 1. Introduction &amp; Problem Statement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• 2. Objectives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• 3. Literature Survey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• 4. System Architecture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• 5. Text Preprocessing Pipeline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• 6. Cosine Similarity Algorithm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• 7. Jaccard Similarity Algorithm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• 8. N-gram Analysis Algorithm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• 9. Semantic Similarity (Sentence Transformers)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• 10. Web Search Integration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• 11. Flask Web Application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• 12. Document Processing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• 13. Report Generation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• 14. Batch Processing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• 15. System Demo / Screenshots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• 16. Results &amp; Testing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• 17. Conclusion &amp; Future Scope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• 18.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8288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Introduction &amp;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A237E"/>
                </a:solidFill>
              </a:defRPr>
            </a:pPr>
            <a:r>
              <a:t>What is Plagiarism?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• The act of presenting someone else's work or ideas as one's own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• Growing concern in academia, publishing, and professional settings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800" b="1">
                <a:solidFill>
                  <a:srgbClr val="C62828"/>
                </a:solidFill>
              </a:defRPr>
            </a:pPr>
            <a:r>
              <a:t>The Problem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• Digital content makes copying easier than ever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• Simple string matching is easily circumvented by paraphrasing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• Synonym substitution defeats keyword-based detection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• Need for intelligent systems that understand meaning, not just words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800" b="1">
                <a:solidFill>
                  <a:srgbClr val="2E7D32"/>
                </a:solidFill>
              </a:defRPr>
            </a:pPr>
            <a:r>
              <a:t>Our Solution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• Multi-algorithm approach combining lexical AND semantic analysis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• Four complementary algorithms for comprehensive detection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8288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Build a comprehensive plagiarism detection system using multiple algorithms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Support multiple document formats: PDF, DOCX, TXT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Implement NLP preprocessing: tokenization, stopword removal, stemming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Implement Cosine Similarity using TF-IDF vectorization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Implement Jaccard Similarity for token set comparison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Implement N-gram analysis for phrase-level matching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Implement Semantic Similarity using sentence transformer models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Integrate Google Custom Search API for web-based checking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Build an intuitive Flask web interface with drag-and-drop upload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Generate highlighted plagiarism reports with PDF export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Support batch processing for comparing multiple documents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Provide a REST API for programmatic access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8288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Literature Survey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A237E"/>
                </a:solidFill>
              </a:defRPr>
            </a:pPr>
            <a:r>
              <a:t>Existing Approaches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Turnitin: Large database matching, proprietary, limited algorithm transparency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Moss (Stanford): Focuses on code plagiarism using winnowing algorithm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Copyscape: Web-based, checks against online content only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800" b="1">
                <a:solidFill>
                  <a:srgbClr val="C62828"/>
                </a:solidFill>
              </a:defRPr>
            </a:pPr>
            <a:r>
              <a:t>Limitations of Current Tools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Most rely on single algorithm (usually string matching or fingerprinting)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Poor at detecting paraphrased content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Limited document format support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No semantic understanding of text meaning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800" b="1">
                <a:solidFill>
                  <a:srgbClr val="2E7D32"/>
                </a:solidFill>
              </a:defRPr>
            </a:pPr>
            <a:r>
              <a:t>Our Improvement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Combines 4 algorithms (lexical + semantic) for robust detection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AI-powered semantic analysis catches intelligent paraphrasing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Open-source, extensible, and self-hosted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8288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A237E"/>
                </a:solidFill>
              </a:defRPr>
            </a:pPr>
            <a:r>
              <a:t>Architecture Overview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Frontend: Bootstrap 5 responsive web interface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Backend: Python Flask web application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Processing Pipeline: Document Parser → Preprocessor → Similarity Analyzers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Output: Highlighted HTML reports + PDF export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800" b="1">
                <a:solidFill>
                  <a:srgbClr val="1A237E"/>
                </a:solidFill>
              </a:defRPr>
            </a:pPr>
            <a:r>
              <a:t>Technology Stack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Python 3.9+ | Flask | NLTK | scikit-learn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Sentence Transformers (Hugging Face) | PyPDF2 | python-docx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ReportLab (PDF) | Bootstrap 5 | Google Custom Search API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800" b="1">
                <a:solidFill>
                  <a:srgbClr val="1A237E"/>
                </a:solidFill>
              </a:defRPr>
            </a:pPr>
            <a:r>
              <a:t>Module Structure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document_parser.py → preprocessor.py → similarity.py → report_generator.py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web_search.py for online source checking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app.py orchestrates all modules via Flask routes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8288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Text Preprocessing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A237E"/>
                </a:solidFill>
              </a:defRPr>
            </a:pPr>
            <a:r>
              <a:t>Step 1: Text Cleaning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Remove URLs, email addresses, special characters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Normalize whitespace and convert to lowercase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600" b="1">
                <a:solidFill>
                  <a:srgbClr val="1A237E"/>
                </a:solidFill>
              </a:defRPr>
            </a:pPr>
            <a:r>
              <a:t>Step 2: Tokenization (NLTK word_tokenize)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Split text into individual word tokens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Example: "The quick brown fox" → ["the", "quick", "brown", "fox"]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600" b="1">
                <a:solidFill>
                  <a:srgbClr val="1A237E"/>
                </a:solidFill>
              </a:defRPr>
            </a:pPr>
            <a:r>
              <a:t>Step 3: Stopword Removal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Remove common words: the, is, at, which, on, etc.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These words don't carry semantic meaning for comparison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600" b="1">
                <a:solidFill>
                  <a:srgbClr val="1A237E"/>
                </a:solidFill>
              </a:defRPr>
            </a:pPr>
            <a:r>
              <a:t>Step 4: Stemming (Porter Stemmer)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Reduce words to root form: running→run, studies→studi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Alternative: Lemmatization produces valid words: studies→study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8288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Algorithm 1: Cosine Similarity (TF-IDF)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A237E"/>
                </a:solidFill>
              </a:defRPr>
            </a:pPr>
            <a:r>
              <a:t>How It Works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Convert documents to TF-IDF (Term Frequency-Inverse Document Frequency) vectors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TF(t,d) = count of term t in document d / total terms in d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IDF(t) = log(total documents / documents containing t)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Measure the cosine of the angle between the two document vectors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800" b="1">
                <a:solidFill>
                  <a:srgbClr val="1A237E"/>
                </a:solidFill>
              </a:defRPr>
            </a:pPr>
            <a:r>
              <a:t>Formula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Cosine Similarity = (A · B) / (||A|| × ||B||)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Score Range: 0.0 (completely different) to 1.0 (identical)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800" b="1">
                <a:solidFill>
                  <a:srgbClr val="2E7D32"/>
                </a:solidFill>
              </a:defRPr>
            </a:pPr>
            <a:r>
              <a:t>Strengths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Length-independent — works well for documents of different sizes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Captures important term distribution across the entire document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600" b="1">
                <a:solidFill>
                  <a:srgbClr val="FF6F00"/>
                </a:solidFill>
              </a:defRPr>
            </a:pPr>
            <a:r>
              <a:t>Weight in Overall Score: 30%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8288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Algorithm 2: Jaccard Similarity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A237E"/>
                </a:solidFill>
              </a:defRPr>
            </a:pPr>
            <a:r>
              <a:t>How It Works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Treat each document as a set of unique tokens (words)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Calculate the ratio of shared tokens to total unique tokens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800" b="1">
                <a:solidFill>
                  <a:srgbClr val="1A237E"/>
                </a:solidFill>
              </a:defRPr>
            </a:pPr>
            <a:r>
              <a:t>Formula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J(A, B) = |A ∩ B| / |A ∪ B|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Intersection: words appearing in BOTH documents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Union: all unique words from EITHER document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Score Range: 0.0 (no overlap) to 1.0 (identical sets)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800" b="1">
                <a:solidFill>
                  <a:srgbClr val="1A237E"/>
                </a:solidFill>
              </a:defRPr>
            </a:pPr>
            <a:r>
              <a:t>Example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Doc A tokens: {cat, sat, mat}  Doc B tokens: {cat, sat, hat}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Intersection: {cat, sat} = 2 | Union: {cat, sat, mat, hat} = 4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Jaccard = 2/4 = 0.50 (50% similar)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600" b="1">
                <a:solidFill>
                  <a:srgbClr val="FF6F00"/>
                </a:solidFill>
              </a:defRPr>
            </a:pPr>
            <a:r>
              <a:t>Weight in Overall Score: 20%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8288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Algorithm 3: N-gram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A237E"/>
                </a:solidFill>
              </a:defRPr>
            </a:pPr>
            <a:r>
              <a:t>How It Works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Generate all n-grams (sequences of n consecutive words) from both documents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Default: trigrams (n=3) for balanced precision and recall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Calculate overlap ratio of n-gram sets between documents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800" b="1">
                <a:solidFill>
                  <a:srgbClr val="1A237E"/>
                </a:solidFill>
              </a:defRPr>
            </a:pPr>
            <a:r>
              <a:t>Example (Trigrams, n=3)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"The cat sat on the mat"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→ (the,cat,sat), (cat,sat,on), (sat,on,the), (on,the,mat)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Compare these trigrams between documents to find matches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800" b="1">
                <a:solidFill>
                  <a:srgbClr val="2E7D32"/>
                </a:solidFill>
              </a:defRPr>
            </a:pPr>
            <a:r>
              <a:t>Strengths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Captures phrase-level (not just word-level) similarity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Effective at detecting rearranged or partially modified text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Higher n → more specific matching, fewer false positives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600" b="1">
                <a:solidFill>
                  <a:srgbClr val="FF6F00"/>
                </a:solidFill>
              </a:defRPr>
            </a:pPr>
            <a:r>
              <a:t>Weight in Overall Score: 20%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8288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Algorithm 4: Semantic Similarity</a:t>
            </a:r>
          </a:p>
          <a:p>
            <a:pPr algn="l">
              <a:defRPr sz="1400">
                <a:solidFill>
                  <a:srgbClr val="BBDEFB"/>
                </a:solidFill>
              </a:defRPr>
            </a:pPr>
            <a:r>
              <a:t>Sentence Transformers (AI-Powered)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A237E"/>
                </a:solidFill>
              </a:defRPr>
            </a:pPr>
            <a:r>
              <a:t>How It Works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• Uses pre-trained all-MiniLM-L6-v2 model (Hugging Face)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• Encodes each sentence into a 384-dimensional dense vector embedding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• These embeddings capture the semantic MEANING of sentences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• Computes pairwise cosine similarity between all sentence pairs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800" b="1">
                <a:solidFill>
                  <a:srgbClr val="2E7D32"/>
                </a:solidFill>
              </a:defRPr>
            </a:pPr>
            <a:r>
              <a:t>Why This Matters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• "The student submitted the assignment" vs "The pupil handed in the homework"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• Lexical methods: LOW similarity (different words)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• Semantic method: HIGH similarity (same meaning!)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800" b="1">
                <a:solidFill>
                  <a:srgbClr val="1A237E"/>
                </a:solidFill>
              </a:defRPr>
            </a:pPr>
            <a:r>
              <a:t>Process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• 1. Split documents into sentences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• 2. Encode all sentences using transformer model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• 3. Build similarity matrix for all sentence pairs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• 4. Identify pairs above 0.7 threshold as potential plagiarism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600" b="1">
                <a:solidFill>
                  <a:srgbClr val="FF6F00"/>
                </a:solidFill>
              </a:defRPr>
            </a:pPr>
            <a:r>
              <a:t>Weight in Overall Score: 30%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8288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Web Search Plagiarism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A237E"/>
                </a:solidFill>
              </a:defRPr>
            </a:pPr>
            <a:r>
              <a:t>Google Custom Search API Integration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Checks document content against billions of web pages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Identifies potential online sources of copied content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800" b="1">
                <a:solidFill>
                  <a:srgbClr val="1A237E"/>
                </a:solidFill>
              </a:defRPr>
            </a:pPr>
            <a:r>
              <a:t>Process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1. Extract key sentences from the document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2. Select representative, longer sentences as search queries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3. Search each phrase on Google (exact match queries)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4. Collect matching web pages with titles, URLs, and snippets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5. Deduplicate results and present to user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800" b="1">
                <a:solidFill>
                  <a:srgbClr val="FF6F00"/>
                </a:solidFill>
              </a:defRPr>
            </a:pPr>
            <a:r>
              <a:t>Setup Required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Google Cloud Console → Enable Custom Search API → Get API key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Programmable Search Engine → Create search engine → Get CSE ID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Set GOOGLE_API_KEY and GOOGLE_CSE_ID environment variables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400">
                <a:solidFill>
                  <a:srgbClr val="757575"/>
                </a:solidFill>
              </a:defRPr>
            </a:pPr>
            <a:r>
              <a:t>Limitation: Subject to Google API rate limits (100 free queries/day)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8288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Flask Web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A237E"/>
                </a:solidFill>
              </a:defRPr>
            </a:pPr>
            <a:r>
              <a:t>Routes &amp; Pages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/ — Landing page with feature overview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/compare — Two-document comparison (drag &amp; drop upload)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/check — Single document check (with optional paste text)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/batch — Batch processing for multiple documents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/download/&lt;filename&gt; — PDF report download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/api/compare — REST API endpoint (JSON response)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800" b="1">
                <a:solidFill>
                  <a:srgbClr val="1A237E"/>
                </a:solidFill>
              </a:defRPr>
            </a:pPr>
            <a:r>
              <a:t>Frontend Features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Bootstrap 5 responsive design — works on desktop and mobile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Drag-and-drop file upload with visual feedback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Loading states during analysis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Color-coded results with progress bars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800" b="1">
                <a:solidFill>
                  <a:srgbClr val="1A237E"/>
                </a:solidFill>
              </a:defRPr>
            </a:pPr>
            <a:r>
              <a:t>Backend Features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Secure file upload handling (werkzeug secure_filename)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Automatic temporary file cleanup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Flash message error handling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8288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Document 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A237E"/>
                </a:solidFill>
              </a:defRPr>
            </a:pPr>
            <a:r>
              <a:t>Supported Formats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PDF — Extracted using PyPDF2 (page-by-page text extraction)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DOCX — Extracted using python-docx (paragraph-by-paragraph)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TXT — Direct file reading with automatic encoding detection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   Tries UTF-8, UTF-8-SIG, Latin-1, CP1252 encodings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800" b="1">
                <a:solidFill>
                  <a:srgbClr val="1A237E"/>
                </a:solidFill>
              </a:defRPr>
            </a:pPr>
            <a:r>
              <a:t>Upload Handling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Max file size: 16 MB per document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Files saved with UUID prefix to prevent naming conflicts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Automatic cleanup after processing (no persistent storage)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File type validation on both frontend and backend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800" b="1">
                <a:solidFill>
                  <a:srgbClr val="1A237E"/>
                </a:solidFill>
              </a:defRPr>
            </a:pPr>
            <a:r>
              <a:t>Text Extraction Pipeline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Upload → Save to disk → Extract text → Preprocess → Analyze → Cleanup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Each format handler returns clean plain text for analysis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8288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Report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A237E"/>
                </a:solidFill>
              </a:defRPr>
            </a:pPr>
            <a:r>
              <a:t>HTML Highlighted Report (In-Browser)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• Color-coded matched sections in the original document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• Red: High match (&gt;90%) | Orange: Medium (&gt;80%) | Yellow: Low (&gt;70%)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• Hover tooltips showing exact similarity percentage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• Scrollable panel for long documents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800" b="1">
                <a:solidFill>
                  <a:srgbClr val="1A237E"/>
                </a:solidFill>
              </a:defRPr>
            </a:pPr>
            <a:r>
              <a:t>PDF Report (Downloadable)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• Generated using ReportLab library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• Professional formatting with styled tables and headers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• Contents: Overall score, algorithm breakdown, matched pairs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• Includes n-gram matches and web sources found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• Timestamped filenames for versioning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800" b="1">
                <a:solidFill>
                  <a:srgbClr val="1A237E"/>
                </a:solidFill>
              </a:defRPr>
            </a:pPr>
            <a:r>
              <a:t>Report Sections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• 1. Metadata (document names, date)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• 2. Overall score with classification badge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• 3. Algorithm-wise breakdown table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• 4. Matched sentence pairs (semantic analysis)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• 5. Matching n-grams | 6. Online sources found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8288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Batch 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A237E"/>
                </a:solidFill>
              </a:defRPr>
            </a:pPr>
            <a:r>
              <a:t>How It Works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Upload 2 or more documents simultaneously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System compares every possible pair of documents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For N documents: N×(N-1)/2 comparisons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Example: 5 documents = 10 pairwise comparisons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800" b="1">
                <a:solidFill>
                  <a:srgbClr val="1A237E"/>
                </a:solidFill>
              </a:defRPr>
            </a:pPr>
            <a:r>
              <a:t>Optimization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Semantic analysis is disabled in batch mode for speed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Uses Cosine + Jaccard + N-gram only (3 algorithms)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Results sorted by similarity score (highest first)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800" b="1">
                <a:solidFill>
                  <a:srgbClr val="1A237E"/>
                </a:solidFill>
              </a:defRPr>
            </a:pPr>
            <a:r>
              <a:t>Output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Summary statistics: total documents, pairs compared, highest similarity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Detailed table with per-pair scores for each algorithm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Color-coded classification badges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Progress bar visualization for each pair's overall score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8288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Results &amp;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A237E"/>
                </a:solidFill>
              </a:defRPr>
            </a:pPr>
            <a:r>
              <a:t>Test Scenarios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• Identical documents → Expected: ~100% (Very High Similarity)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• Completely different documents → Expected: &lt;15% (Original)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• Copy with minor word changes → Expected: 50-75% (High)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• Paraphrased content → Expected: 30-50% (Moderate, caught by semantic)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• Rearranged paragraphs → Expected: 30-60% (caught by n-gram + cosine)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800" b="1">
                <a:solidFill>
                  <a:srgbClr val="1A237E"/>
                </a:solidFill>
              </a:defRPr>
            </a:pPr>
            <a:r>
              <a:t>Scoring Classification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• 0-15%:  Original (Green)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• 15-30%: Low Similarity (Green)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• 30-50%: Moderate Similarity (Yellow/Orange)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• 50-75%: High Similarity (Red)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• 75-100%: Very High Similarity — Likely Plagiarism (Red)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800" b="1">
                <a:solidFill>
                  <a:srgbClr val="2E7D32"/>
                </a:solidFill>
              </a:defRPr>
            </a:pPr>
            <a:r>
              <a:t>Multi-Algorithm Advantage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• Each algorithm catches different types of plagiarism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• Combined weighted score provides robust, well-rounded detection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8288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Conclusion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A237E"/>
                </a:solidFill>
              </a:defRPr>
            </a:pPr>
            <a:r>
              <a:t>Conclusion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Successfully implemented a multi-algorithm plagiarism detection system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Combines lexical methods (cosine, Jaccard, n-gram) with semantic AI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Sentence transformers effectively detect paraphrased content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Web interface provides accessible, user-friendly experience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PDF reports enable documentation and record-keeping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800" b="1">
                <a:solidFill>
                  <a:srgbClr val="FF6F00"/>
                </a:solidFill>
              </a:defRPr>
            </a:pPr>
            <a:r>
              <a:t>Future Scope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Support for more languages (currently English-focused)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Integration with learning management systems (Moodle, Canvas)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Code plagiarism detection using AST comparison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Database of previously checked documents for cross-referencing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Fine-tuned transformer models for domain-specific detection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Real-time collaboration detection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Mobile application version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References &amp; Resources</a:t>
            </a:r>
          </a:p>
          <a:p>
            <a:pPr algn="l">
              <a:spcAft>
                <a:spcPts val="400"/>
              </a:spcAft>
              <a:defRPr sz="2400">
                <a:solidFill>
                  <a:srgbClr val="FFFFFF"/>
                </a:solidFill>
              </a:defRPr>
            </a:pPr>
          </a:p>
          <a:p>
            <a:pPr algn="l"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1. Manning, C.D. et al. — Introduction to Information Retrieval (TF-IDF, Cosine Similarity)</a:t>
            </a:r>
          </a:p>
          <a:p>
            <a:pPr algn="l"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2. Jaccard, P. — Étude comparative de la distribution florale (Jaccard Index, 1912)</a:t>
            </a:r>
          </a:p>
          <a:p>
            <a:pPr algn="l"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3. Reimers, N. &amp; Gurevych, I. — Sentence-BERT: Sentence Embeddings using Siamese BERT-Networks (2019)</a:t>
            </a:r>
          </a:p>
          <a:p>
            <a:pPr algn="l"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4. NLTK Documentation — https://www.nltk.org/</a:t>
            </a:r>
          </a:p>
          <a:p>
            <a:pPr algn="l"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5. scikit-learn Documentation — https://scikit-learn.org/</a:t>
            </a:r>
          </a:p>
          <a:p>
            <a:pPr algn="l"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6. Sentence Transformers — https://www.sbert.net/</a:t>
            </a:r>
          </a:p>
          <a:p>
            <a:pPr algn="l"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7. Flask Documentation — https://flask.palletsprojects.com/</a:t>
            </a:r>
          </a:p>
          <a:p>
            <a:pPr algn="l"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8. Google Custom Search API — https://developers.google.com/custom-search/</a:t>
            </a:r>
          </a:p>
          <a:p>
            <a:pPr algn="l">
              <a:spcAft>
                <a:spcPts val="400"/>
              </a:spcAft>
              <a:defRPr sz="1300">
                <a:solidFill>
                  <a:srgbClr val="FFFFFF"/>
                </a:solidFill>
              </a:defRPr>
            </a:pPr>
            <a:r>
              <a:t>9. ReportLab — https://www.reportlab.com/</a:t>
            </a:r>
          </a:p>
          <a:p>
            <a:pPr algn="l">
              <a:spcAft>
                <a:spcPts val="400"/>
              </a:spcAft>
              <a:defRPr sz="2400">
                <a:solidFill>
                  <a:srgbClr val="FFFFFF"/>
                </a:solidFill>
              </a:defRPr>
            </a:pPr>
          </a:p>
          <a:p>
            <a:pPr algn="ctr">
              <a:spcAft>
                <a:spcPts val="400"/>
              </a:spcAft>
              <a:defRPr sz="2400" b="1">
                <a:solidFill>
                  <a:srgbClr val="FFCC80"/>
                </a:solidFill>
              </a:defRPr>
            </a:pPr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